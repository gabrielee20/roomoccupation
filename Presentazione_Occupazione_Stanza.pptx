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Predizione dell'Occupazione della Stanza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Progetto di Machine Learning con Random Forest</a:t>
            </a:r>
          </a:p>
          <a:p/>
          <a:p>
            <a:r>
              <a:t>Analisi, Implementazione e Risultati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Indice della Presentazione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Introduzione e Obiettivi</a:t>
            </a:r>
          </a:p>
          <a:p>
            <a:pPr>
              <a:defRPr sz="1800"/>
            </a:pPr>
            <a:r>
              <a:t>Dataset e Caratteristiche</a:t>
            </a:r>
          </a:p>
          <a:p>
            <a:pPr>
              <a:defRPr sz="1800"/>
            </a:pPr>
            <a:r>
              <a:t>Analisi Esplorativa dei Dati</a:t>
            </a:r>
          </a:p>
          <a:p>
            <a:pPr>
              <a:defRPr sz="1800"/>
            </a:pPr>
            <a:r>
              <a:t>Visualizzazione delle Features</a:t>
            </a:r>
          </a:p>
          <a:p>
            <a:pPr>
              <a:defRPr sz="1800"/>
            </a:pPr>
            <a:r>
              <a:t>Metodologia di Classificazione</a:t>
            </a:r>
          </a:p>
          <a:p>
            <a:pPr>
              <a:defRPr sz="1800"/>
            </a:pPr>
            <a:r>
              <a:t>Ottimizzazione degli Iper-parametri</a:t>
            </a:r>
          </a:p>
          <a:p>
            <a:pPr>
              <a:defRPr sz="1800"/>
            </a:pPr>
            <a:r>
              <a:t>Training del Modello</a:t>
            </a:r>
          </a:p>
          <a:p>
            <a:pPr>
              <a:defRPr sz="1800"/>
            </a:pPr>
            <a:r>
              <a:t>Valutazione delle Performance</a:t>
            </a:r>
          </a:p>
          <a:p>
            <a:pPr>
              <a:defRPr sz="1800"/>
            </a:pPr>
            <a:r>
              <a:t>Feature Importance</a:t>
            </a:r>
          </a:p>
          <a:p>
            <a:pPr>
              <a:defRPr sz="1800"/>
            </a:pPr>
            <a:r>
              <a:t>Conclusioni e Risultati Finali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Introduzione al Progetto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Obiettivo: Predire l'occupazione di una stanza basandosi su sensori ambientali</a:t>
            </a:r>
          </a:p>
          <a:p>
            <a:pPr>
              <a:defRPr sz="1800"/>
            </a:pPr>
            <a:r>
              <a:t>Approccio: Machine Learning con algoritmo Random Forest</a:t>
            </a:r>
          </a:p>
          <a:p>
            <a:pPr>
              <a:defRPr sz="1800"/>
            </a:pPr>
            <a:r>
              <a:t>Dataset: Dati da sensori di temperatura, umidità, luce, CO2 e umidità</a:t>
            </a:r>
          </a:p>
          <a:p>
            <a:pPr>
              <a:defRPr sz="1800"/>
            </a:pPr>
            <a:r>
              <a:t>Applicazioni pratiche:</a:t>
            </a:r>
          </a:p>
          <a:p>
            <a:pPr lvl="1">
              <a:defRPr sz="1800"/>
            </a:pPr>
            <a:r>
              <a:t>Gestione energetica intelligente degli edifici</a:t>
            </a:r>
          </a:p>
          <a:p>
            <a:pPr lvl="1">
              <a:defRPr sz="1800"/>
            </a:pPr>
            <a:r>
              <a:t>Ottimizzazione del condizionamento</a:t>
            </a:r>
          </a:p>
          <a:p>
            <a:pPr lvl="1">
              <a:defRPr sz="1800"/>
            </a:pPr>
            <a:r>
              <a:t>Sicurezza e monitoraggio degli spazi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Obiettivi Specifici del Progetto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Analizzare e comprendere il dataset di occupazione</a:t>
            </a:r>
          </a:p>
          <a:p>
            <a:pPr>
              <a:defRPr sz="1800"/>
            </a:pPr>
            <a:r>
              <a:t>Identificare le features più rilevanti per la predizione</a:t>
            </a:r>
          </a:p>
          <a:p>
            <a:pPr>
              <a:defRPr sz="1800"/>
            </a:pPr>
            <a:r>
              <a:t>Implementare un modello di classificazione Random Forest</a:t>
            </a:r>
          </a:p>
          <a:p>
            <a:pPr>
              <a:defRPr sz="1800"/>
            </a:pPr>
            <a:r>
              <a:t>Ottimizzare gli iper-parametri tramite Grid Search</a:t>
            </a:r>
          </a:p>
          <a:p>
            <a:pPr>
              <a:defRPr sz="1800"/>
            </a:pPr>
            <a:r>
              <a:t>Valutare le performance con multiple metriche</a:t>
            </a:r>
          </a:p>
          <a:p>
            <a:pPr>
              <a:defRPr sz="1800"/>
            </a:pPr>
            <a:r>
              <a:t>Validare il modello su dataset separati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Utilizzati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Tre file di dataset:</a:t>
            </a:r>
          </a:p>
          <a:p>
            <a:pPr lvl="1">
              <a:defRPr sz="1800"/>
            </a:pPr>
            <a:r>
              <a:t>datatraining.txt: dati per il training iniziale</a:t>
            </a:r>
          </a:p>
          <a:p>
            <a:pPr lvl="1">
              <a:defRPr sz="1800"/>
            </a:pPr>
            <a:r>
              <a:t>datatest.txt: primo set di test</a:t>
            </a:r>
          </a:p>
          <a:p>
            <a:pPr lvl="1">
              <a:defRPr sz="1800"/>
            </a:pPr>
            <a:r>
              <a:t>datatest2.txt: validazione finale separata</a:t>
            </a:r>
          </a:p>
          <a:p>
            <a:pPr>
              <a:defRPr sz="1800"/>
            </a:pPr>
            <a:r>
              <a:t>Features disponibili:</a:t>
            </a:r>
          </a:p>
          <a:p>
            <a:pPr lvl="1">
              <a:defRPr sz="1800"/>
            </a:pPr>
            <a:r>
              <a:t>Temperature (Temperatura)</a:t>
            </a:r>
          </a:p>
          <a:p>
            <a:pPr lvl="1">
              <a:defRPr sz="1800"/>
            </a:pPr>
            <a:r>
              <a:t>Humidity (Umidità)</a:t>
            </a:r>
          </a:p>
          <a:p>
            <a:pPr lvl="1">
              <a:defRPr sz="1800"/>
            </a:pPr>
            <a:r>
              <a:t>Light (Luminosità)</a:t>
            </a:r>
          </a:p>
          <a:p>
            <a:pPr lvl="1">
              <a:defRPr sz="1800"/>
            </a:pPr>
            <a:r>
              <a:t>CO2 (Anidride Carbonica)</a:t>
            </a:r>
          </a:p>
          <a:p>
            <a:pPr lvl="1">
              <a:defRPr sz="1800"/>
            </a:pPr>
            <a:r>
              <a:t>HumidityRatio (Rapporto di Umidità)</a:t>
            </a:r>
          </a:p>
          <a:p>
            <a:pPr>
              <a:defRPr sz="1800"/>
            </a:pPr>
            <a:r>
              <a:t>Target: Occupancy (0 = non occupata, 1 = occupata)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Caratteristiche del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Dati temporali con timestamp</a:t>
            </a:r>
          </a:p>
          <a:p>
            <a:pPr>
              <a:defRPr sz="1800"/>
            </a:pPr>
            <a:r>
              <a:t>Campionamento continuo nel tempo</a:t>
            </a:r>
          </a:p>
          <a:p>
            <a:pPr>
              <a:defRPr sz="1800"/>
            </a:pPr>
            <a:r>
              <a:t>Divisione strategica dei dati:</a:t>
            </a:r>
          </a:p>
          <a:p>
            <a:pPr lvl="1">
              <a:defRPr sz="1800"/>
            </a:pPr>
            <a:r>
              <a:t>75% per training</a:t>
            </a:r>
          </a:p>
          <a:p>
            <a:pPr lvl="1">
              <a:defRPr sz="1800"/>
            </a:pPr>
            <a:r>
              <a:t>25% per testing (subsampling stratificato)</a:t>
            </a:r>
          </a:p>
          <a:p>
            <a:pPr>
              <a:defRPr sz="1800"/>
            </a:pPr>
            <a:r>
              <a:t>Mantenimento del dataset test2 per validazione finale</a:t>
            </a:r>
          </a:p>
          <a:p>
            <a:pPr>
              <a:defRPr sz="1800"/>
            </a:pPr>
            <a:r>
              <a:t>Separazione features (X) e label (y) per entrambi i set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Distribuzione dell'Occupazione per Giorno</a:t>
            </a:r>
          </a:p>
        </p:txBody>
      </p:sp>
      <p:pic>
        <p:nvPicPr>
          <p:cNvPr id="4" name="Picture 3" descr="campioni_con_presenza_per_gior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/>
            </a:pPr>
            <a:r>
              <a:t>Analisi della presenza per giorno della settimana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Heatmap: Campioni per Ora del Giorno</a:t>
            </a:r>
          </a:p>
        </p:txBody>
      </p:sp>
      <p:pic>
        <p:nvPicPr>
          <p:cNvPr id="4" name="Picture 3" descr="heatmap_campioni_per_o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914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/>
            </a:pPr>
            <a:r>
              <a:t>Distribuzione oraria dell'occupazione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Andamento Temporale delle Features</a:t>
            </a:r>
          </a:p>
        </p:txBody>
      </p:sp>
      <p:pic>
        <p:nvPicPr>
          <p:cNvPr id="4" name="Picture 3" descr="andamento_temporale_feat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39804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/>
            </a:pPr>
            <a:r>
              <a:t>Visualizzazione dell'andamento di ogni feature nel tempo (rosso = presenza)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Box Plots: Distribuzione Features per Occupancy</a:t>
            </a:r>
          </a:p>
        </p:txBody>
      </p:sp>
      <p:pic>
        <p:nvPicPr>
          <p:cNvPr id="4" name="Picture 3" descr="box_pl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10972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/>
            </a:pPr>
            <a:r>
              <a:t>Confronto delle distribuzioni con e senza occupazione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Analisi dei Box Plots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Humidity: i notch si sovrappongono</a:t>
            </a:r>
          </a:p>
          <a:p>
            <a:pPr lvl="1">
              <a:defRPr sz="1800"/>
            </a:pPr>
            <a:r>
              <a:t>Le distribuzioni potrebbero essere simili</a:t>
            </a:r>
          </a:p>
          <a:p>
            <a:pPr lvl="1">
              <a:defRPr sz="1800"/>
            </a:pPr>
            <a:r>
              <a:t>Feature probabilmente meno importante per la classificazione</a:t>
            </a:r>
          </a:p>
          <a:p>
            <a:pPr>
              <a:defRPr sz="1800"/>
            </a:pPr>
            <a:r>
              <a:t>Temperature: differenze significative</a:t>
            </a:r>
          </a:p>
          <a:p>
            <a:pPr lvl="1">
              <a:defRPr sz="1800"/>
            </a:pPr>
            <a:r>
              <a:t>I notch non si sovrappongono</a:t>
            </a:r>
          </a:p>
          <a:p>
            <a:pPr lvl="1">
              <a:defRPr sz="1800"/>
            </a:pPr>
            <a:r>
              <a:t>Feature importante per discriminare l'occupazione</a:t>
            </a:r>
          </a:p>
          <a:p>
            <a:pPr>
              <a:defRPr sz="1800"/>
            </a:pPr>
            <a:r>
              <a:t>Light, CO2, HumidityRatio: pattern distintivi evidenti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Scelta dell'Algoritmo: Random Forest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Perché Random Forest?</a:t>
            </a:r>
          </a:p>
          <a:p>
            <a:pPr lvl="1">
              <a:defRPr sz="1800"/>
            </a:pPr>
            <a:r>
              <a:t>Ensemble method robusto</a:t>
            </a:r>
          </a:p>
          <a:p>
            <a:pPr lvl="1">
              <a:defRPr sz="1800"/>
            </a:pPr>
            <a:r>
              <a:t>Gestisce bene features non lineari</a:t>
            </a:r>
          </a:p>
          <a:p>
            <a:pPr lvl="1">
              <a:defRPr sz="1800"/>
            </a:pPr>
            <a:r>
              <a:t>Riduce overfitting rispetto a singoli alberi</a:t>
            </a:r>
          </a:p>
          <a:p>
            <a:pPr lvl="1">
              <a:defRPr sz="1800"/>
            </a:pPr>
            <a:r>
              <a:t>Fornisce feature importance</a:t>
            </a:r>
          </a:p>
          <a:p>
            <a:pPr lvl="1">
              <a:defRPr sz="1800"/>
            </a:pPr>
            <a:r>
              <a:t>Ottimo bilanciamento bias-variance</a:t>
            </a:r>
          </a:p>
          <a:p>
            <a:pPr>
              <a:defRPr sz="1800"/>
            </a:pPr>
            <a:r>
              <a:t>Caratteristiche:</a:t>
            </a:r>
          </a:p>
          <a:p>
            <a:pPr lvl="1">
              <a:defRPr sz="1800"/>
            </a:pPr>
            <a:r>
              <a:t>Molteplici alberi di decisione</a:t>
            </a:r>
          </a:p>
          <a:p>
            <a:pPr lvl="1">
              <a:defRPr sz="1800"/>
            </a:pPr>
            <a:r>
              <a:t>Voting per la predizione finale</a:t>
            </a:r>
          </a:p>
          <a:p>
            <a:pPr lvl="1">
              <a:defRPr sz="1800"/>
            </a:pPr>
            <a:r>
              <a:t>Bootstrap aggregating (bagging)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Metodologia di Ottimizzazione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Grid Search con 50 random_state diversi</a:t>
            </a:r>
          </a:p>
          <a:p>
            <a:pPr>
              <a:defRPr sz="1800"/>
            </a:pPr>
            <a:r>
              <a:t>Parametri ottimizzati:</a:t>
            </a:r>
          </a:p>
          <a:p>
            <a:pPr lvl="1">
              <a:defRPr sz="1800"/>
            </a:pPr>
            <a:r>
              <a:t>n_estimators: [100, 200, 500]</a:t>
            </a:r>
          </a:p>
          <a:p>
            <a:pPr lvl="1">
              <a:defRPr sz="1800"/>
            </a:pPr>
            <a:r>
              <a:t>min_samples_split: [2, 5, 10]</a:t>
            </a:r>
          </a:p>
          <a:p>
            <a:pPr lvl="1">
              <a:defRPr sz="1800"/>
            </a:pPr>
            <a:r>
              <a:t>min_samples_leaf: [1, 2, 5]</a:t>
            </a:r>
          </a:p>
          <a:p>
            <a:pPr lvl="1">
              <a:defRPr sz="1800"/>
            </a:pPr>
            <a:r>
              <a:t>max_samples: [0.5, 0.8, 1.0]</a:t>
            </a:r>
          </a:p>
          <a:p>
            <a:pPr lvl="1">
              <a:defRPr sz="1800"/>
            </a:pPr>
            <a:r>
              <a:t>max_depth: [None, 10, 30]</a:t>
            </a:r>
          </a:p>
          <a:p>
            <a:pPr>
              <a:defRPr sz="1800"/>
            </a:pPr>
            <a:r>
              <a:t>Strategia: calcolare la moda dei parametri ottimali</a:t>
            </a:r>
          </a:p>
          <a:p>
            <a:pPr>
              <a:defRPr sz="1800"/>
            </a:pPr>
            <a:r>
              <a:t>Obiettivo: trovare i parametri più robusti e generalizzabili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Frequenze dei Parametri Migliori</a:t>
            </a:r>
          </a:p>
        </p:txBody>
      </p:sp>
      <p:pic>
        <p:nvPicPr>
          <p:cNvPr id="4" name="Picture 3" descr="frequenze_parametri_migliori_50_grid_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/>
            </a:pPr>
            <a:r>
              <a:t>Distribuzione dei parametri ottimali su 50 esecuzioni diverse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Parametri Ottimali Selezionati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Dai 50 esperimenti di Grid Search:</a:t>
            </a:r>
          </a:p>
          <a:p>
            <a:pPr>
              <a:defRPr sz="1800"/>
            </a:pPr>
            <a:r>
              <a:t>I parametri con frequenza più alta (moda) sono stati:</a:t>
            </a:r>
          </a:p>
          <a:p>
            <a:pPr lvl="1">
              <a:defRPr sz="1800"/>
            </a:pPr>
            <a:r>
              <a:t>n_estimators: 500</a:t>
            </a:r>
          </a:p>
          <a:p>
            <a:pPr lvl="1">
              <a:defRPr sz="1800"/>
            </a:pPr>
            <a:r>
              <a:t>min_samples_split: 2</a:t>
            </a:r>
          </a:p>
          <a:p>
            <a:pPr lvl="1">
              <a:defRPr sz="1800"/>
            </a:pPr>
            <a:r>
              <a:t>min_samples_leaf: 1</a:t>
            </a:r>
          </a:p>
          <a:p>
            <a:pPr lvl="1">
              <a:defRPr sz="1800"/>
            </a:pPr>
            <a:r>
              <a:t>max_samples: 0.5</a:t>
            </a:r>
          </a:p>
          <a:p>
            <a:pPr lvl="1">
              <a:defRPr sz="1800"/>
            </a:pPr>
            <a:r>
              <a:t>max_depth: None (nessun limite)</a:t>
            </a:r>
          </a:p>
          <a:p>
            <a:pPr>
              <a:defRPr sz="1800"/>
            </a:pPr>
            <a:r>
              <a:t>Gli iper-parametri della moda appaiono con buon distacco</a:t>
            </a:r>
          </a:p>
          <a:p>
            <a:pPr>
              <a:defRPr sz="1800"/>
            </a:pPr>
            <a:r>
              <a:t>Indica robustezza della configurazione ottimale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 del Modello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Configurazione finale Random Forest con parametri ottimali</a:t>
            </a:r>
          </a:p>
          <a:p>
            <a:pPr>
              <a:defRPr sz="1800"/>
            </a:pPr>
            <a:r>
              <a:t>Training eseguito su training set (75% dei dati)</a:t>
            </a:r>
          </a:p>
          <a:p>
            <a:pPr>
              <a:defRPr sz="1800"/>
            </a:pPr>
            <a:r>
              <a:t>Utilizzo di tutti i core disponibili (n_jobs=-1)</a:t>
            </a:r>
          </a:p>
          <a:p>
            <a:pPr>
              <a:defRPr sz="1800"/>
            </a:pPr>
            <a:r>
              <a:t>Fitting completato con successo</a:t>
            </a:r>
          </a:p>
          <a:p>
            <a:pPr>
              <a:defRPr sz="1800"/>
            </a:pPr>
            <a:r>
              <a:t>Modello pronto per la fase di testing e validazione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Metriche di Valutazione Utilizzate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Matrice di Confusione:</a:t>
            </a:r>
          </a:p>
          <a:p>
            <a:pPr lvl="1">
              <a:defRPr sz="1800"/>
            </a:pPr>
            <a:r>
              <a:t>True Positives, False Positives, True Negatives, False Negatives</a:t>
            </a:r>
          </a:p>
          <a:p>
            <a:pPr>
              <a:defRPr sz="1800"/>
            </a:pPr>
            <a:r>
              <a:t>F1-Score: media armonica di Precision e Recall</a:t>
            </a:r>
          </a:p>
          <a:p>
            <a:pPr>
              <a:defRPr sz="1800"/>
            </a:pPr>
            <a:r>
              <a:t>Recall: capacità di identificare i positivi</a:t>
            </a:r>
          </a:p>
          <a:p>
            <a:pPr>
              <a:defRPr sz="1800"/>
            </a:pPr>
            <a:r>
              <a:t>Precision: accuratezza delle predizioni positive</a:t>
            </a:r>
          </a:p>
          <a:p>
            <a:pPr>
              <a:defRPr sz="1800"/>
            </a:pPr>
            <a:r>
              <a:t>ROC Curve: performance al variare della soglia</a:t>
            </a:r>
          </a:p>
          <a:p>
            <a:pPr>
              <a:defRPr sz="1800"/>
            </a:pPr>
            <a:r>
              <a:t>AUC-ROC: area sotto la curva ROC</a:t>
            </a:r>
          </a:p>
          <a:p>
            <a:pPr lvl="1">
              <a:defRPr sz="1800"/>
            </a:pPr>
            <a:r>
              <a:t>Misura complessiva indipendente dalla soglia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Risultati sul Testing 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Performance sul test set (subsampling stratificato):</a:t>
            </a:r>
          </a:p>
          <a:p>
            <a:pPr>
              <a:defRPr sz="1800"/>
            </a:pPr>
            <a:r>
              <a:t>Eccellenti risultati su tutte le metriche</a:t>
            </a:r>
          </a:p>
          <a:p>
            <a:pPr>
              <a:defRPr sz="1800"/>
            </a:pPr>
            <a:r>
              <a:t>Alta accuratezza nella predizione</a:t>
            </a:r>
          </a:p>
          <a:p>
            <a:pPr>
              <a:defRPr sz="1800"/>
            </a:pPr>
            <a:r>
              <a:t>Bassi falsi positivi e falsi negativi</a:t>
            </a:r>
          </a:p>
          <a:p>
            <a:pPr>
              <a:defRPr sz="1800"/>
            </a:pPr>
            <a:r>
              <a:t>ROC-AUC molto elevata</a:t>
            </a:r>
          </a:p>
          <a:p>
            <a:pPr>
              <a:defRPr sz="1800"/>
            </a:pPr>
            <a:r>
              <a:t>Il modello outperforma significativamente un classificatore casuale</a:t>
            </a:r>
          </a:p>
          <a:p>
            <a:pPr>
              <a:defRPr sz="1800"/>
            </a:pPr>
            <a:r>
              <a:t>Evidenza di un ottimo lavoro di classificazione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Validazione su Dataset Separato (datatest2.txt)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Test finale su dataset completamente indipendente</a:t>
            </a:r>
          </a:p>
          <a:p>
            <a:pPr>
              <a:defRPr sz="1800"/>
            </a:pPr>
            <a:r>
              <a:t>Simula uno scenario real-world</a:t>
            </a:r>
          </a:p>
          <a:p>
            <a:pPr>
              <a:defRPr sz="1800"/>
            </a:pPr>
            <a:r>
              <a:t>Risultati coerenti con il testing precedente</a:t>
            </a:r>
          </a:p>
          <a:p>
            <a:pPr>
              <a:defRPr sz="1800"/>
            </a:pPr>
            <a:r>
              <a:t>Tutti gli indici di performance confermati</a:t>
            </a:r>
          </a:p>
          <a:p>
            <a:pPr>
              <a:defRPr sz="1800"/>
            </a:pPr>
            <a:r>
              <a:t>Dimostra la capacità di generalizzazione del modello</a:t>
            </a:r>
          </a:p>
          <a:p>
            <a:pPr>
              <a:defRPr sz="1800"/>
            </a:pPr>
            <a:r>
              <a:t>Il modello non è overfittato sui dati di training</a:t>
            </a:r>
          </a:p>
          <a:p>
            <a:pPr>
              <a:defRPr sz="1800"/>
            </a:pPr>
            <a:r>
              <a:t>Conferma della robustezza della soluzione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Importanza delle Features</a:t>
            </a:r>
          </a:p>
        </p:txBody>
      </p:sp>
      <p:pic>
        <p:nvPicPr>
          <p:cNvPr id="4" name="Picture 3" descr="feature_importances_random_fo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/>
            </a:pPr>
            <a:r>
              <a:t>Importanza relativa di ogni feature nel modello Random Forest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Interpretazione Feature Importance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Le features sono classificate per importanza</a:t>
            </a:r>
          </a:p>
          <a:p>
            <a:pPr>
              <a:defRPr sz="1800"/>
            </a:pPr>
            <a:r>
              <a:t>Light (luminosità) potrebbe essere tra le più importanti</a:t>
            </a:r>
          </a:p>
          <a:p>
            <a:pPr>
              <a:defRPr sz="1800"/>
            </a:pPr>
            <a:r>
              <a:t>CO2 contribuisce significativamente alla classificazione</a:t>
            </a:r>
          </a:p>
          <a:p>
            <a:pPr>
              <a:defRPr sz="1800"/>
            </a:pPr>
            <a:r>
              <a:t>Temperature gioca un ruolo importante</a:t>
            </a:r>
          </a:p>
          <a:p>
            <a:pPr>
              <a:defRPr sz="1800"/>
            </a:pPr>
            <a:r>
              <a:t>HumidityRatio aggiunge informazioni utili</a:t>
            </a:r>
          </a:p>
          <a:p>
            <a:pPr>
              <a:defRPr sz="1800"/>
            </a:pPr>
            <a:r>
              <a:t>Humidity, come previsto dall'analisi dei box plot, ha minor peso</a:t>
            </a:r>
          </a:p>
          <a:p>
            <a:pPr>
              <a:defRPr sz="1800"/>
            </a:pPr>
            <a:r>
              <a:t>Conferma delle intuizioni dall'analisi esplorativa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Esempio: Un Albero della Random Forest</a:t>
            </a:r>
          </a:p>
        </p:txBody>
      </p:sp>
      <p:pic>
        <p:nvPicPr>
          <p:cNvPr id="4" name="Picture 3" descr="tree_random_fo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/>
            </a:pPr>
            <a:r>
              <a:t>Visualizzazione di uno degli alberi decisionali della Random Forest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Vantaggi della Soluzione Implementata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Accuratezza elevata nelle predizioni</a:t>
            </a:r>
          </a:p>
          <a:p>
            <a:pPr>
              <a:defRPr sz="1800"/>
            </a:pPr>
            <a:r>
              <a:t>Robustezza dimostrata su dataset separati</a:t>
            </a:r>
          </a:p>
          <a:p>
            <a:pPr>
              <a:defRPr sz="1800"/>
            </a:pPr>
            <a:r>
              <a:t>Metodologia rigorosa di ottimizzazione</a:t>
            </a:r>
          </a:p>
          <a:p>
            <a:pPr>
              <a:defRPr sz="1800"/>
            </a:pPr>
            <a:r>
              <a:t>Validazione multipla con diverse metriche</a:t>
            </a:r>
          </a:p>
          <a:p>
            <a:pPr>
              <a:defRPr sz="1800"/>
            </a:pPr>
            <a:r>
              <a:t>Interpretabilità attraverso feature importance</a:t>
            </a:r>
          </a:p>
          <a:p>
            <a:pPr>
              <a:defRPr sz="1800"/>
            </a:pPr>
            <a:r>
              <a:t>Scalabilità per applicazioni real-time</a:t>
            </a:r>
          </a:p>
          <a:p>
            <a:pPr>
              <a:defRPr sz="1800"/>
            </a:pPr>
            <a:r>
              <a:t>Facilità di deployment in sistemi esistenti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Applicazioni Pratiche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Smart Building Management:</a:t>
            </a:r>
          </a:p>
          <a:p>
            <a:pPr lvl="1">
              <a:defRPr sz="1800"/>
            </a:pPr>
            <a:r>
              <a:t>Regolazione automatica HVAC</a:t>
            </a:r>
          </a:p>
          <a:p>
            <a:pPr lvl="1">
              <a:defRPr sz="1800"/>
            </a:pPr>
            <a:r>
              <a:t>Ottimizzazione consumo energetico</a:t>
            </a:r>
          </a:p>
          <a:p>
            <a:pPr>
              <a:defRPr sz="1800"/>
            </a:pPr>
            <a:r>
              <a:t>Sicurezza:</a:t>
            </a:r>
          </a:p>
          <a:p>
            <a:pPr lvl="1">
              <a:defRPr sz="1800"/>
            </a:pPr>
            <a:r>
              <a:t>Monitoraggio accessi non autorizzati</a:t>
            </a:r>
          </a:p>
          <a:p>
            <a:pPr lvl="1">
              <a:defRPr sz="1800"/>
            </a:pPr>
            <a:r>
              <a:t>Alert in caso di anomalie</a:t>
            </a:r>
          </a:p>
          <a:p>
            <a:pPr>
              <a:defRPr sz="1800"/>
            </a:pPr>
            <a:r>
              <a:t>Facility Management:</a:t>
            </a:r>
          </a:p>
          <a:p>
            <a:pPr lvl="1">
              <a:defRPr sz="1800"/>
            </a:pPr>
            <a:r>
              <a:t>Pianificazione pulizie</a:t>
            </a:r>
          </a:p>
          <a:p>
            <a:pPr lvl="1">
              <a:defRPr sz="1800"/>
            </a:pPr>
            <a:r>
              <a:t>Gestione spazi condivisi</a:t>
            </a:r>
          </a:p>
          <a:p>
            <a:pPr>
              <a:defRPr sz="1800"/>
            </a:pPr>
            <a:r>
              <a:t>Analisi dati:</a:t>
            </a:r>
          </a:p>
          <a:p>
            <a:pPr lvl="1">
              <a:defRPr sz="1800"/>
            </a:pPr>
            <a:r>
              <a:t>Pattern di utilizzo degli spazi</a:t>
            </a:r>
          </a:p>
          <a:p>
            <a:pPr lvl="1">
              <a:defRPr sz="1800"/>
            </a:pPr>
            <a:r>
              <a:t>Ottimizzazione layout uffici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Limitazioni e Possibili Miglioramenti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Limitazioni attuali:</a:t>
            </a:r>
          </a:p>
          <a:p>
            <a:pPr lvl="1">
              <a:defRPr sz="1800"/>
            </a:pPr>
            <a:r>
              <a:t>Dipendenza dalla qualità dei sensori</a:t>
            </a:r>
          </a:p>
          <a:p>
            <a:pPr lvl="1">
              <a:defRPr sz="1800"/>
            </a:pPr>
            <a:r>
              <a:t>Necessità di calibrazione periodica</a:t>
            </a:r>
          </a:p>
          <a:p>
            <a:pPr lvl="1">
              <a:defRPr sz="1800"/>
            </a:pPr>
            <a:r>
              <a:t>Limitato a condizioni ambientali simili al training</a:t>
            </a:r>
          </a:p>
          <a:p>
            <a:pPr>
              <a:defRPr sz="1800"/>
            </a:pPr>
            <a:r>
              <a:t>Sviluppi futuri:</a:t>
            </a:r>
          </a:p>
          <a:p>
            <a:pPr lvl="1">
              <a:defRPr sz="1800"/>
            </a:pPr>
            <a:r>
              <a:t>Integrazione di sensori aggiuntivi (es. PIR, audio)</a:t>
            </a:r>
          </a:p>
          <a:p>
            <a:pPr lvl="1">
              <a:defRPr sz="1800"/>
            </a:pPr>
            <a:r>
              <a:t>Transfer learning per nuovi ambienti</a:t>
            </a:r>
          </a:p>
          <a:p>
            <a:pPr lvl="1">
              <a:defRPr sz="1800"/>
            </a:pPr>
            <a:r>
              <a:t>Predizione del numero di occupanti</a:t>
            </a:r>
          </a:p>
          <a:p>
            <a:pPr lvl="1">
              <a:defRPr sz="1800"/>
            </a:pPr>
            <a:r>
              <a:t>Implementazione in edge computing devices</a:t>
            </a:r>
          </a:p>
          <a:p>
            <a:pPr lvl="1">
              <a:defRPr sz="1800"/>
            </a:pPr>
            <a:r>
              <a:t>Dashboard real-time per monitoraggio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Stack Tecnologico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Linguaggio: Python 3</a:t>
            </a:r>
          </a:p>
          <a:p>
            <a:pPr>
              <a:defRPr sz="1800"/>
            </a:pPr>
            <a:r>
              <a:t>Machine Learning: scikit-learn</a:t>
            </a:r>
          </a:p>
          <a:p>
            <a:pPr lvl="1">
              <a:defRPr sz="1800"/>
            </a:pPr>
            <a:r>
              <a:t>RandomForestClassifier</a:t>
            </a:r>
          </a:p>
          <a:p>
            <a:pPr lvl="1">
              <a:defRPr sz="1800"/>
            </a:pPr>
            <a:r>
              <a:t>GridSearchCV per ottimizzazione</a:t>
            </a:r>
          </a:p>
          <a:p>
            <a:pPr>
              <a:defRPr sz="1800"/>
            </a:pPr>
            <a:r>
              <a:t>Data Analysis: pandas</a:t>
            </a:r>
          </a:p>
          <a:p>
            <a:pPr>
              <a:defRPr sz="1800"/>
            </a:pPr>
            <a:r>
              <a:t>Visualizzazione:</a:t>
            </a:r>
          </a:p>
          <a:p>
            <a:pPr lvl="1">
              <a:defRPr sz="1800"/>
            </a:pPr>
            <a:r>
              <a:t>matplotlib per grafici</a:t>
            </a:r>
          </a:p>
          <a:p>
            <a:pPr lvl="1">
              <a:defRPr sz="1800"/>
            </a:pPr>
            <a:r>
              <a:t>seaborn per visualizzazioni statistiche</a:t>
            </a:r>
          </a:p>
          <a:p>
            <a:pPr>
              <a:defRPr sz="1800"/>
            </a:pPr>
            <a:r>
              <a:t>Environment: Jupyter Notebook</a:t>
            </a:r>
          </a:p>
          <a:p>
            <a:pPr>
              <a:defRPr sz="1800"/>
            </a:pPr>
            <a:r>
              <a:t>Version Control: Git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Obiettivo raggiunto con successo</a:t>
            </a:r>
          </a:p>
          <a:p>
            <a:pPr>
              <a:defRPr sz="1800"/>
            </a:pPr>
            <a:r>
              <a:t>Modello Random Forest con ottime performance</a:t>
            </a:r>
          </a:p>
          <a:p>
            <a:pPr>
              <a:defRPr sz="1800"/>
            </a:pPr>
            <a:r>
              <a:t>Ottimizzazione iper-parametri rigorosa e robusta</a:t>
            </a:r>
          </a:p>
          <a:p>
            <a:pPr>
              <a:defRPr sz="1800"/>
            </a:pPr>
            <a:r>
              <a:t>Validazione multipla conferma la qualità del modello</a:t>
            </a:r>
          </a:p>
          <a:p>
            <a:pPr>
              <a:defRPr sz="1800"/>
            </a:pPr>
            <a:r>
              <a:t>Feature importance allineata con l'analisi esplorativa</a:t>
            </a:r>
          </a:p>
          <a:p>
            <a:pPr>
              <a:defRPr sz="1800"/>
            </a:pPr>
            <a:r>
              <a:t>Soluzione pronta per deployment in scenari reali</a:t>
            </a:r>
          </a:p>
          <a:p>
            <a:pPr>
              <a:defRPr sz="1800"/>
            </a:pPr>
            <a:r>
              <a:t>Metodologia replicabile e scalabile</a:t>
            </a:r>
          </a:p>
          <a:p>
            <a:pPr>
              <a:defRPr sz="1800"/>
            </a:pPr>
            <a:r>
              <a:t>Buon bilanciamento tra accuratezza e interpretabilità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Grazie per l'Attenzione!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Domande?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